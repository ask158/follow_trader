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MA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3796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9B53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SIGMA BOT · SYSTEMATIC INTELLIGENCE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60000">
            <a:off x="7818120" y="-594360"/>
            <a:ext cx="4937760" cy="4937760"/>
          </a:xfrm>
          <a:prstGeom prst="arc">
            <a:avLst/>
          </a:prstGeom>
          <a:solidFill>
            <a:srgbClr val="FBF8F3">
              <a:alpha val="0"/>
            </a:srgbClr>
          </a:solidFill>
          <a:ln w="38100">
            <a:solidFill>
              <a:srgbClr val="F4E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549640" y="137160"/>
            <a:ext cx="3474720" cy="3474720"/>
          </a:xfrm>
          <a:prstGeom prst="arc">
            <a:avLst/>
          </a:prstGeom>
          <a:solidFill>
            <a:srgbClr val="FBF8F3">
              <a:alpha val="0"/>
            </a:srgbClr>
          </a:solidFill>
          <a:ln w="17780">
            <a:solidFill>
              <a:srgbClr val="BF6672">
                <a:alpha val="7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9408" y="96012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0" dirty="0">
                <a:solidFill>
                  <a:srgbClr val="BF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777240" y="6583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SYSTEMATIC INTELLIGENCE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18872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82000"/>
              </a:lnSpc>
              <a:buNone/>
            </a:pPr>
            <a:r>
              <a:rPr lang="en-US" sz="5800" b="1" dirty="0">
                <a:solidFill>
                  <a:srgbClr val="3731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</a:t>
            </a:r>
            <a:endParaRPr lang="en-US" sz="5800" dirty="0"/>
          </a:p>
          <a:p>
            <a:pPr indent="0" marL="0">
              <a:lnSpc>
                <a:spcPct val="82000"/>
              </a:lnSpc>
              <a:buNone/>
            </a:pPr>
            <a:r>
              <a:rPr lang="en-US" sz="5800" b="1" dirty="0">
                <a:solidFill>
                  <a:srgbClr val="3731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777240" y="3310128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项目计划书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" y="400507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MT4/MT5 交易者与开发者的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策略发现、验证、交易与 AI 创作开放平台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" y="5779008"/>
            <a:ext cx="1508760" cy="292608"/>
          </a:xfrm>
          <a:prstGeom prst="roundRect">
            <a:avLst>
              <a:gd name="adj" fmla="val 43750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57881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 · 2026.09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87168" y="5788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内部规划与合作沟通版本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732520" y="61813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历史表现不代表未来结果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一个平台，连接交易者与开发者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以四大产品板块形成“发现—验证—获取—创造—变现”的完整闭环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83080"/>
            <a:ext cx="5212080" cy="1499616"/>
          </a:xfrm>
          <a:prstGeom prst="roundRect">
            <a:avLst>
              <a:gd name="adj" fmla="val 3659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208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80744" y="1947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策略信号中心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0392" y="247802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筛选长期稳定、低相关的优质策略，降低普通用户跟单门槛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212080" cy="1499616"/>
          </a:xfrm>
          <a:prstGeom prst="roundRect">
            <a:avLst>
              <a:gd name="adj" fmla="val 3659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2011680"/>
            <a:ext cx="384048" cy="384048"/>
          </a:xfrm>
          <a:prstGeom prst="ellipse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0208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76872" y="19476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交易工具商城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46520" y="247802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EA、指标、其他工具的社区化上架、交易、评价与交付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" y="3630168"/>
            <a:ext cx="5212080" cy="1499616"/>
          </a:xfrm>
          <a:prstGeom prst="roundRect">
            <a:avLst>
              <a:gd name="adj" fmla="val 3659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858768"/>
            <a:ext cx="384048" cy="384048"/>
          </a:xfrm>
          <a:prstGeom prst="ellipse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3867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0744" y="37947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观摩空间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" y="432511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模拟/真实账户持续展示，让策略表现可以被观察和验证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3630168"/>
            <a:ext cx="5212080" cy="1499616"/>
          </a:xfrm>
          <a:prstGeom prst="roundRect">
            <a:avLst>
              <a:gd name="adj" fmla="val 3659"/>
            </a:avLst>
          </a:prstGeom>
          <a:solidFill>
            <a:srgbClr val="FFFDF9"/>
          </a:solidFill>
          <a:ln w="12700">
            <a:solidFill>
              <a:srgbClr val="B78036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37376" y="3858768"/>
            <a:ext cx="384048" cy="384048"/>
          </a:xfrm>
          <a:prstGeom prst="ellipse">
            <a:avLst/>
          </a:prstGeom>
          <a:solidFill>
            <a:srgbClr val="B78036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8679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76872" y="37947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实验室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46520" y="432511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自然语言生成与局部修改 MQL，逻辑图可编辑并内置编译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5605272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统一账户 · Gas 积分 · 社区信誉 · 审核治理 · 数据沉淀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交易生态的真正问题，是链路割裂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用户在多个平台之间寻找信号、验证表现、购买工具、找人开发，信任与效率同时损耗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379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52728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策略难筛选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数据分散、真实性难核验，单一策略风险集中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788920"/>
            <a:ext cx="384048" cy="384048"/>
          </a:xfrm>
          <a:prstGeom prst="ellipse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980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工具难选择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88920" y="274320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来源碎片化，质量、交付与售后没有统一标准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749040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5818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52728" y="3703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开发门槛高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88920" y="37033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MQL4/5 定制周期长，需求与代码之间沟通成本高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4709160"/>
            <a:ext cx="384048" cy="384048"/>
          </a:xfrm>
          <a:prstGeom prst="ellipse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71830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52728" y="4663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创作者难变现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6634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个人开发者缺少精准流量、信用体系与交易设施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23560" y="3035808"/>
            <a:ext cx="658368" cy="822960"/>
          </a:xfrm>
          <a:prstGeom prst="chevron">
            <a:avLst/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755648"/>
            <a:ext cx="4800600" cy="4005072"/>
          </a:xfrm>
          <a:prstGeom prst="roundRect">
            <a:avLst>
              <a:gd name="adj" fmla="val 1370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20574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SIGMA BOT 的机会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40880" y="2761488"/>
            <a:ext cx="3840480" cy="23042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信号中心解决“选什么”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观摩空间解决“如何验证”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工具商城解决“用什么”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实验室解决“如何创造”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与社区解决“如何交易并持续增长”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2440" y="5193792"/>
            <a:ext cx="2011680" cy="292608"/>
          </a:xfrm>
          <a:prstGeom prst="roundRect">
            <a:avLst>
              <a:gd name="adj" fmla="val 43750"/>
            </a:avLst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5202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垂直交易操作系统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ECOSYSTEM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四大板块共同驱动的增长飞轮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每个用户动作都可转化为下一轮供给、信任或收入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信号中心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2221992"/>
            <a:ext cx="566928" cy="347472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03320" y="182880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0332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观摩空间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2221992"/>
            <a:ext cx="566928" cy="347472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2880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工具商城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595360" y="2221992"/>
            <a:ext cx="566928" cy="347472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828800"/>
            <a:ext cx="2011680" cy="1188720"/>
          </a:xfrm>
          <a:prstGeom prst="roundRect">
            <a:avLst>
              <a:gd name="adj" fmla="val 4615"/>
            </a:avLst>
          </a:prstGeom>
          <a:solidFill>
            <a:srgbClr val="FFFDF9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2011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8116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实验室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rot="10800000">
            <a:off x="1691640" y="2788920"/>
            <a:ext cx="8823960" cy="2514600"/>
          </a:xfrm>
          <a:prstGeom prst="arc">
            <a:avLst/>
          </a:prstGeom>
          <a:solidFill>
            <a:srgbClr val="FBF8F3">
              <a:alpha val="0"/>
            </a:srgbClr>
          </a:solidFill>
          <a:ln w="20320">
            <a:solidFill>
              <a:srgbClr val="BF667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52928" y="3730752"/>
            <a:ext cx="6492240" cy="1234440"/>
          </a:xfrm>
          <a:prstGeom prst="roundRect">
            <a:avLst>
              <a:gd name="adj" fmla="val 4444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3904488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新策略与工具回流平台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136392" y="43616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更多供给 → 更多购买与评价 → 更强信誉 → 更精准推荐 → 吸引更多创作者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平台增长的核心不是单一功能流量，而是策略与工具资产的循环增值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策略信号中心：把复杂筛选变成简单选择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服务普通用户，同时建立平台最重要的策略信任入口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3703320" cy="4315968"/>
          </a:xfrm>
          <a:prstGeom prst="roundRect">
            <a:avLst>
              <a:gd name="adj" fmla="val 1481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993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核心展示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86968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7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+82.4%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86968" y="3099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累计收益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23744" y="260604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523744" y="30998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最大回撤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4507992"/>
            <a:ext cx="457200" cy="-192024"/>
          </a:xfrm>
          <a:prstGeom prst="line">
            <a:avLst/>
          </a:prstGeom>
          <a:noFill/>
          <a:ln w="29210">
            <a:solidFill>
              <a:srgbClr val="3D7A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4315968"/>
            <a:ext cx="484632" cy="54864"/>
          </a:xfrm>
          <a:prstGeom prst="line">
            <a:avLst/>
          </a:prstGeom>
          <a:noFill/>
          <a:ln w="29210">
            <a:solidFill>
              <a:srgbClr val="3D7A6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1952" y="4370832"/>
            <a:ext cx="502920" cy="-457200"/>
          </a:xfrm>
          <a:prstGeom prst="line">
            <a:avLst/>
          </a:prstGeom>
          <a:noFill/>
          <a:ln w="29210">
            <a:solidFill>
              <a:srgbClr val="3D7A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3913632"/>
            <a:ext cx="502920" cy="164592"/>
          </a:xfrm>
          <a:prstGeom prst="line">
            <a:avLst/>
          </a:prstGeom>
          <a:noFill/>
          <a:ln w="29210">
            <a:solidFill>
              <a:srgbClr val="3D7A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4078224"/>
            <a:ext cx="548640" cy="-576072"/>
          </a:xfrm>
          <a:prstGeom prst="line">
            <a:avLst/>
          </a:prstGeom>
          <a:noFill/>
          <a:ln w="29210">
            <a:solidFill>
              <a:srgbClr val="3D7A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3502152"/>
            <a:ext cx="475488" cy="-256032"/>
          </a:xfrm>
          <a:prstGeom prst="line">
            <a:avLst/>
          </a:prstGeom>
          <a:noFill/>
          <a:ln w="29210">
            <a:solidFill>
              <a:srgbClr val="3D7A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19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资金曲线 · 月度收益 · 交易历史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298448" y="5413248"/>
            <a:ext cx="2331720" cy="292608"/>
          </a:xfrm>
          <a:prstGeom prst="roundRect">
            <a:avLst>
              <a:gd name="adj" fmla="val 43750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44168" y="5422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快照回退保障可用性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09160" y="18105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准入逻辑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736592" y="2441448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45059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244144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长期表现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93992" y="24414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避免短期幸运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592" y="3200400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32095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回撤控制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93992" y="32004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风险优先于收益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36592" y="3959352"/>
            <a:ext cx="384048" cy="384048"/>
          </a:xfrm>
          <a:prstGeom prst="ellipse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96849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39593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低相关性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93992" y="39593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支持组合分散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36592" y="4718304"/>
            <a:ext cx="384048" cy="384048"/>
          </a:xfrm>
          <a:prstGeom prst="ellipse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47274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85232" y="471830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持续运行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793992" y="471830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拒绝静态样本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006840" y="1993392"/>
            <a:ext cx="2240280" cy="3429000"/>
          </a:xfrm>
          <a:prstGeom prst="roundRect">
            <a:avLst>
              <a:gd name="adj" fmla="val 2449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811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281160" y="29718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9281160" y="36758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/ 月 / 用户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81160" y="43159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可扩展组合包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专业数据与分层服务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交易工具商城：社区驱动的 MT4/MT5 工具超市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统一解决发现、审核、交易、交付、评价与开发者变现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程序交易系统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98264" y="173736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E3EDF2"/>
          </a:solidFill>
          <a:ln w="12700">
            <a:solidFill>
              <a:srgbClr val="E3ED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99432" y="2395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 / 震荡 / 量能 / 形态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74736" y="1737360"/>
            <a:ext cx="3429000" cy="1188720"/>
          </a:xfrm>
          <a:prstGeom prst="roundRect">
            <a:avLst>
              <a:gd name="adj" fmla="val 4615"/>
            </a:avLst>
          </a:prstGeom>
          <a:solidFill>
            <a:srgbClr val="E2EFEA"/>
          </a:solidFill>
          <a:ln w="12700">
            <a:solidFill>
              <a:srgbClr val="E2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75904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其他工具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75904" y="23957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/ 数据 / 面板 / 效率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345643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84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开发者上架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95728" y="3730752"/>
            <a:ext cx="393192" cy="310896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45643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3584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17520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平台审核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730752"/>
            <a:ext cx="393192" cy="310896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93792" y="345643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3584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85232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用户购买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31152" y="3730752"/>
            <a:ext cx="393192" cy="310896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61504" y="345643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2944" y="3584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52944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安全交付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98864" y="3730752"/>
            <a:ext cx="393192" cy="310896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29216" y="345643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20656" y="3584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20656" y="38862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评价沉淀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4864608"/>
            <a:ext cx="6995160" cy="804672"/>
          </a:xfrm>
          <a:prstGeom prst="roundRect">
            <a:avLst>
              <a:gd name="adj" fmla="val 6818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9536" y="50749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已具备：富文本详情 · MQ4/MQ5/EX4/EX5 · Gas 订单 · 下载令牌 · 已购评价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36992" y="4690872"/>
            <a:ext cx="3401568" cy="1170432"/>
          </a:xfrm>
          <a:prstGeom prst="roundRect">
            <a:avLst>
              <a:gd name="adj" fmla="val 4688"/>
            </a:avLst>
          </a:prstGeom>
          <a:solidFill>
            <a:srgbClr val="E3EDF2"/>
          </a:solidFill>
          <a:ln w="12700">
            <a:solidFill>
              <a:srgbClr val="E3ED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4818888"/>
            <a:ext cx="11704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9253728" y="49103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平台成交抽成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93024" y="538581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双边市场：用户越多，供给越丰富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观摩空间：让策略表现持续被看见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从“宣传策略”升级为“展示正在运行的模拟或真实账户”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4663440" cy="4251960"/>
          </a:xfrm>
          <a:prstGeom prst="roundRect">
            <a:avLst>
              <a:gd name="adj" fmla="val 1290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1993392"/>
            <a:ext cx="1463040" cy="292608"/>
          </a:xfrm>
          <a:prstGeom prst="roundRect">
            <a:avLst>
              <a:gd name="adj" fmla="val 43750"/>
            </a:avLst>
          </a:prstGeom>
          <a:solidFill>
            <a:srgbClr val="E2EFEA"/>
          </a:solidFill>
          <a:ln w="12700">
            <a:solidFill>
              <a:srgbClr val="E2E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002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· 真实账户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32688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 Multi-Factor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41832" y="2907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MT5 · 只读观摩 · 持续运行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3547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7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+36.2%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96112" y="4041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净值增长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3547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423160" y="40416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最大回撤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67328" y="354787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214d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3767328" y="4041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773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1,286   ·   评论 47   ·   分享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15000" y="1810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策略提供者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742432" y="2322576"/>
            <a:ext cx="2560320" cy="1664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展示长期表现与交易风格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积累关注、评论和个人信誉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为订阅、工具销售和合作导流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1810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31352" y="2322576"/>
            <a:ext cx="2514600" cy="16642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先观察，再决定是否购买或跟单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区分真实/模拟账户</a:t>
            </a:r>
            <a:endParaRPr lang="en-US" sz="1150" dirty="0"/>
          </a:p>
          <a:p>
            <a:pPr marL="152400" indent="-152400">
              <a:buSzPct val="100000"/>
              <a:buChar char="•"/>
            </a:pPr>
            <a:r>
              <a:rPr lang="en-US" sz="11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通过社区反馈降低信息差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15000" y="4370832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E2EFEA"/>
          </a:solidFill>
          <a:ln w="12700">
            <a:solidFill>
              <a:srgbClr val="E2EF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4535424"/>
            <a:ext cx="4800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7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0.1–0.5 Gas / 天 / 铺位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5998464" y="50474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可按认证、推荐位、数据深度设计分层价格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760720" y="652881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当前展示功能已具备；铺位计费、自动到期与持续数据采集待建设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实验室：从一句话到可编译的 MQL 策略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不是通用聊天机器人，而是面向 MT4/MT5 的垂直开发工作流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3504" y="1755648"/>
            <a:ext cx="1755648" cy="1143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20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3591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自然语言描述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86584" y="2157984"/>
            <a:ext cx="420624" cy="320040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1216" y="1755648"/>
            <a:ext cx="1755648" cy="1143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920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80944" y="23591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StrategySpec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54296" y="2157984"/>
            <a:ext cx="420624" cy="320040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755648"/>
            <a:ext cx="1755648" cy="1143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1920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8656" y="23591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可编辑逻辑图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22008" y="2157984"/>
            <a:ext cx="420624" cy="320040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755648"/>
            <a:ext cx="1755648" cy="1143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1920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16368" y="23591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生成/局部修改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2157984"/>
            <a:ext cx="420624" cy="320040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74352" y="1755648"/>
            <a:ext cx="1755648" cy="1143000"/>
          </a:xfrm>
          <a:prstGeom prst="roundRect">
            <a:avLst>
              <a:gd name="adj" fmla="val 4800"/>
            </a:avLst>
          </a:prstGeom>
          <a:solidFill>
            <a:srgbClr val="FFFDF9"/>
          </a:solidFill>
          <a:ln w="12700">
            <a:solidFill>
              <a:srgbClr val="9349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1920240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0" y="235915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编译与风险检查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3346704"/>
            <a:ext cx="5358384" cy="2084832"/>
          </a:xfrm>
          <a:prstGeom prst="roundRect">
            <a:avLst>
              <a:gd name="adj" fmla="val 2632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" y="3584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垂直能力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4023360"/>
            <a:ext cx="4709160" cy="11704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Function 调用串联完整流程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逻辑图节点与参数可直接编辑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Monaco 编辑器 + 会话/版本/导出</a:t>
            </a:r>
            <a:endParaRPr lang="en-US" sz="1080" dirty="0"/>
          </a:p>
          <a:p>
            <a:pPr marL="152400" indent="-152400">
              <a:buSzPct val="100000"/>
              <a:buChar char="•"/>
            </a:pPr>
            <a:r>
              <a:rPr lang="en-US" sz="10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MetaEditor 编译，失败可进入修复循环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236208" y="3346704"/>
            <a:ext cx="5084064" cy="2084832"/>
          </a:xfrm>
          <a:prstGeom prst="roundRect">
            <a:avLst>
              <a:gd name="adj" fmla="val 2632"/>
            </a:avLst>
          </a:prstGeom>
          <a:solidFill>
            <a:srgbClr val="F7EBD7"/>
          </a:solidFill>
          <a:ln w="12700">
            <a:solidFill>
              <a:srgbClr val="F7EB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5844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规划模型分层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65392" y="41239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普通模型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882128" y="412394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日常问答、简单生成与修改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65392" y="464515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SIGMA PLUS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82128" y="4645152"/>
            <a:ext cx="2944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复杂策略、长上下文与更强推理（暂未上线）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06640" y="5138928"/>
            <a:ext cx="2514600" cy="292608"/>
          </a:xfrm>
          <a:prstGeom prst="round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51480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+ 20% 目标毛利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60720" y="6528816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规划采用 Anthropic 系列；“Fable”名称需发布前核实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USERS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不同能力层级，在同一个平台完成升级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产品之间交叉导流，用户可以从消费者逐步成长为创作者和供应者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7190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16352" y="17190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79008" y="171907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首要入口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0" y="17190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关键路径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10789920" cy="557784"/>
          </a:xfrm>
          <a:prstGeom prst="roundRect">
            <a:avLst>
              <a:gd name="adj" fmla="val 6557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76272"/>
            <a:ext cx="73152" cy="557784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494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普通新手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16352" y="22494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简单使用、降低选择成本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79008" y="22494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策略信号中心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0" y="224942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 → 充值 → 跟单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889504"/>
            <a:ext cx="10789920" cy="557784"/>
          </a:xfrm>
          <a:prstGeom prst="roundRect">
            <a:avLst>
              <a:gd name="adj" fmla="val 6557"/>
            </a:avLst>
          </a:prstGeom>
          <a:solidFill>
            <a:srgbClr val="F8F3ED"/>
          </a:solidFill>
          <a:ln w="12700">
            <a:solidFill>
              <a:srgbClr val="F8F3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889504"/>
            <a:ext cx="73152" cy="557784"/>
          </a:xfrm>
          <a:prstGeom prst="rect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9626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进阶交易者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16352" y="29626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引入技术、优化交易流程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779008" y="29626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工具商城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296265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 → 购买 → 复购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602736"/>
            <a:ext cx="10789920" cy="557784"/>
          </a:xfrm>
          <a:prstGeom prst="roundRect">
            <a:avLst>
              <a:gd name="adj" fmla="val 6557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602736"/>
            <a:ext cx="73152" cy="557784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75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策略研究者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816352" y="3675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验证表现、建立信誉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79008" y="36758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观摩空间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0" y="36758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→ 沉淀 → 合作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315968"/>
            <a:ext cx="10789920" cy="557784"/>
          </a:xfrm>
          <a:prstGeom prst="roundRect">
            <a:avLst>
              <a:gd name="adj" fmla="val 6557"/>
            </a:avLst>
          </a:prstGeom>
          <a:solidFill>
            <a:srgbClr val="F8F3ED"/>
          </a:solidFill>
          <a:ln w="12700">
            <a:solidFill>
              <a:srgbClr val="F8F3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315968"/>
            <a:ext cx="73152" cy="557784"/>
          </a:xfrm>
          <a:prstGeom prst="rect">
            <a:avLst/>
          </a:prstGeom>
          <a:solidFill>
            <a:srgbClr val="B78036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389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零代码创作者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16352" y="4389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将想法快速变成程序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79008" y="43891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实验室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43891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 → 生成 → 编译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029200"/>
            <a:ext cx="10789920" cy="557784"/>
          </a:xfrm>
          <a:prstGeom prst="roundRect">
            <a:avLst>
              <a:gd name="adj" fmla="val 6557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5029200"/>
            <a:ext cx="73152" cy="557784"/>
          </a:xfrm>
          <a:prstGeom prst="rect">
            <a:avLst/>
          </a:prstGeom>
          <a:solidFill>
            <a:srgbClr val="934955"/>
          </a:solidFill>
          <a:ln w="12700">
            <a:solidFill>
              <a:srgbClr val="9349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102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开发者/团队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816352" y="51023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销售产品、获得持续回报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79008" y="510235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开发者平台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51023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上架 → 销售 → 迭代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148840" y="5961888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消费用户 → 深度用户 → 创作者 → 供应者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ADVANTAGE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竞争壁垒来自闭环，而不是单点功能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技术、供给、信誉与数据相互增强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801278" y="1038476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4E4E5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84158" y="11664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垂直技术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65870" y="1523108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结构化策略 + 逻辑图 + 局部修改 + 编译修复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6080760" y="3401568"/>
            <a:ext cx="-2136482" cy="-1905892"/>
          </a:xfrm>
          <a:prstGeom prst="line">
            <a:avLst/>
          </a:prstGeom>
          <a:noFill/>
          <a:ln w="15240">
            <a:solidFill>
              <a:srgbClr val="E7DE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17609" y="1286477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0489" y="1414493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持续验证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2201" y="1771109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信号表现 + 观摩账户 + 社区反馈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6080760" y="3401568"/>
            <a:ext cx="1379849" cy="-1657891"/>
          </a:xfrm>
          <a:prstGeom prst="line">
            <a:avLst/>
          </a:prstGeom>
          <a:noFill/>
          <a:ln w="15240">
            <a:solidFill>
              <a:srgbClr val="E7DE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297180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4E4E5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099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交易闭环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19872" y="345643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 → 验证 → 上架 → 购买 → 订阅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080760" y="3401568"/>
            <a:ext cx="3017520" cy="27432"/>
          </a:xfrm>
          <a:prstGeom prst="line">
            <a:avLst/>
          </a:prstGeom>
          <a:noFill/>
          <a:ln w="15240">
            <a:solidFill>
              <a:srgbClr val="E7DE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7609" y="4657123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DF9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0489" y="4785139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双边网络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2201" y="5141755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用户增长吸引开发者，供给增长反哺用户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6080760" y="3401568"/>
            <a:ext cx="1379849" cy="1712755"/>
          </a:xfrm>
          <a:prstGeom prst="line">
            <a:avLst/>
          </a:prstGeom>
          <a:noFill/>
          <a:ln w="15240">
            <a:solidFill>
              <a:srgbClr val="E7DED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01278" y="4905124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4E4E5"/>
          </a:solidFill>
          <a:ln w="12700">
            <a:solidFill>
              <a:srgbClr val="9349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84158" y="50331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信任资产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65870" y="538975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审核、订单、已购评价、长期表现、开发者信誉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080760" y="3401568"/>
            <a:ext cx="-2136482" cy="1960756"/>
          </a:xfrm>
          <a:prstGeom prst="line">
            <a:avLst/>
          </a:prstGeom>
          <a:noFill/>
          <a:ln w="15240">
            <a:solidFill>
              <a:srgbClr val="E7DE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73168" y="2240280"/>
            <a:ext cx="2615184" cy="2395728"/>
          </a:xfrm>
          <a:prstGeom prst="ellipse">
            <a:avLst/>
          </a:prstGeom>
          <a:solidFill>
            <a:srgbClr val="BF6672"/>
          </a:solidFill>
          <a:ln w="15240">
            <a:solidFill>
              <a:srgbClr val="934955"/>
            </a:solidFill>
            <a:prstDash val="solid"/>
          </a:ln>
          <a:effectLst>
            <a:outerShdw sx="100000" sy="100000" kx="0" ky="0" algn="bl" rotWithShape="0" blurRad="25400" dist="50800" dir="2700000">
              <a:srgbClr val="9B536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47488" y="2761488"/>
            <a:ext cx="20574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234440" y="5888736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长期壁垒 = 优质供给 × 可验证信誉 × 垂直工作流 × 网络效应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BUSINESS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五条收入路径，共享同一用户与 Gas 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核心平台收入可控，经纪返佣提供高弹性增量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1993392" cy="3310128"/>
          </a:xfrm>
          <a:prstGeom prst="roundRect">
            <a:avLst>
              <a:gd name="adj" fmla="val 2752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2532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跟单订阅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088" y="3255264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Gas/月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86968" y="4050792"/>
            <a:ext cx="1353312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4325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平台服务收入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71216" y="1773936"/>
            <a:ext cx="1993392" cy="3310128"/>
          </a:xfrm>
          <a:prstGeom prst="roundRect">
            <a:avLst>
              <a:gd name="adj" fmla="val 2752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54096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54096" y="2532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商城抽成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08376" y="3255264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GMV × 20%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191256" y="4050792"/>
            <a:ext cx="1353312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4325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交易抽成收入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75504" y="1773936"/>
            <a:ext cx="1993392" cy="3310128"/>
          </a:xfrm>
          <a:prstGeom prst="roundRect">
            <a:avLst>
              <a:gd name="adj" fmla="val 2752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D7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58384" y="2532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观摩租赁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12664" y="3255264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0.1–0.5 Gas/天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95544" y="4050792"/>
            <a:ext cx="1353312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4325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展示服务收入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79792" y="1773936"/>
            <a:ext cx="1993392" cy="3310128"/>
          </a:xfrm>
          <a:prstGeom prst="roundRect">
            <a:avLst>
              <a:gd name="adj" fmla="val 2752"/>
            </a:avLst>
          </a:prstGeom>
          <a:solidFill>
            <a:srgbClr val="FFFDF9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62672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78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62672" y="2532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用量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16952" y="3255264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成本上浮 20%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99832" y="4050792"/>
            <a:ext cx="1353312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62672" y="4325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毛利贡献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84080" y="1773936"/>
            <a:ext cx="1993392" cy="3310128"/>
          </a:xfrm>
          <a:prstGeom prst="roundRect">
            <a:avLst>
              <a:gd name="adj" fmla="val 2752"/>
            </a:avLst>
          </a:prstGeom>
          <a:solidFill>
            <a:srgbClr val="FFFDF9"/>
          </a:solidFill>
          <a:ln w="12700">
            <a:solidFill>
              <a:srgbClr val="9349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19933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66960" y="2532888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经纪返佣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921240" y="3255264"/>
            <a:ext cx="17190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约 200 Gas/活跃户/月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04120" y="4050792"/>
            <a:ext cx="1353312" cy="0"/>
          </a:xfrm>
          <a:prstGeom prst="line">
            <a:avLst/>
          </a:prstGeom>
          <a:noFill/>
          <a:ln w="12700">
            <a:solidFill>
              <a:srgbClr val="E7DED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0" y="432511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渠道返佣收入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0976" y="5431536"/>
            <a:ext cx="10149840" cy="475488"/>
          </a:xfrm>
          <a:prstGeom prst="roundRect">
            <a:avLst>
              <a:gd name="adj" fmla="val 11538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24712" y="5532120"/>
            <a:ext cx="9802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为内部消费单位；以下测算暂按 1 Gas ≈ 1 USDT 的内部管理口径，不代表兑换或收益承诺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FORECAST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规模增长，同时带来合理的转化改善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用户严格采用给定基准；5,000 / 10,000 用户体现供给、信任与交叉销售的网络效应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8368" y="1700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关键假设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361688" y="17007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用户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0" y="170078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 用户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05672" y="1700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10,000 用户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10835640" cy="502920"/>
          </a:xfrm>
          <a:prstGeom prst="roundRect">
            <a:avLst>
              <a:gd name="adj" fmla="val 5455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6771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跟单付费率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1688" y="22677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226771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805672" y="22677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2852928"/>
            <a:ext cx="10835640" cy="502920"/>
          </a:xfrm>
          <a:prstGeom prst="roundRect">
            <a:avLst>
              <a:gd name="adj" fmla="val 5455"/>
            </a:avLst>
          </a:prstGeom>
          <a:solidFill>
            <a:srgbClr val="F8F3ED"/>
          </a:solidFill>
          <a:ln w="12700">
            <a:solidFill>
              <a:srgbClr val="F8F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92608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商城月 GMV / 用户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361688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 Gas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 Gas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05672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 Gas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511296"/>
            <a:ext cx="10835640" cy="502920"/>
          </a:xfrm>
          <a:prstGeom prst="roundRect">
            <a:avLst>
              <a:gd name="adj" fmla="val 5455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58444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观摩铺位率 / 日租金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61688" y="3584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/ 0.1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0" y="358444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 / 0.15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05672" y="3584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 / 0.2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169664"/>
            <a:ext cx="10835640" cy="502920"/>
          </a:xfrm>
          <a:prstGeom prst="roundRect">
            <a:avLst>
              <a:gd name="adj" fmla="val 5455"/>
            </a:avLst>
          </a:prstGeom>
          <a:solidFill>
            <a:srgbClr val="F8F3ED"/>
          </a:solidFill>
          <a:ln w="12700">
            <a:solidFill>
              <a:srgbClr val="F8F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242816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月用量 / 用户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361688" y="42428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 Gas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83680" y="424281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Gas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05672" y="424281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 Gas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94360" y="4828032"/>
            <a:ext cx="10835640" cy="502920"/>
          </a:xfrm>
          <a:prstGeom prst="roundRect">
            <a:avLst>
              <a:gd name="adj" fmla="val 5455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90118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经纪开户转化率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361688" y="490118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0" y="490118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6.0%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05672" y="49011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8368" y="5559552"/>
            <a:ext cx="10680192" cy="438912"/>
          </a:xfrm>
          <a:prstGeom prst="roundRect">
            <a:avLst>
              <a:gd name="adj" fmla="val 12500"/>
            </a:avLst>
          </a:prstGeom>
          <a:solidFill>
            <a:srgbClr val="F7EBD7"/>
          </a:solidFill>
          <a:ln w="12700">
            <a:solidFill>
              <a:srgbClr val="F7EB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641848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这些是运营假设，不是结果承诺；应通过首批用户真实数据按月校准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FORECAST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核心平台月收入：3,000 → 48,000 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不含经纪返佣；包括跟单收入、商城抽成、观摩租赁和 Agent 毛利贡献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0" y="1673352"/>
            <a:ext cx="164592" cy="164592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0256" y="1627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543800" y="1673352"/>
            <a:ext cx="164592" cy="164592"/>
          </a:xfrm>
          <a:prstGeom prst="rect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63256" y="1627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686800" y="1673352"/>
            <a:ext cx="164592" cy="164592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06256" y="1627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829800" y="1673352"/>
            <a:ext cx="164592" cy="164592"/>
          </a:xfrm>
          <a:prstGeom prst="rect">
            <a:avLst/>
          </a:prstGeom>
          <a:solidFill>
            <a:srgbClr val="B78036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49256" y="162763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" y="224028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用户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48840" y="2258568"/>
            <a:ext cx="245745" cy="420624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94585" y="2258568"/>
            <a:ext cx="163830" cy="420624"/>
          </a:xfrm>
          <a:prstGeom prst="rect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8415" y="2258568"/>
            <a:ext cx="49149" cy="420624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07564" y="2258568"/>
            <a:ext cx="32766" cy="420624"/>
          </a:xfrm>
          <a:prstGeom prst="rect">
            <a:avLst/>
          </a:prstGeom>
          <a:solidFill>
            <a:srgbClr val="B78036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2240280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 Gas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3355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用户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48840" y="3374136"/>
            <a:ext cx="1474470" cy="420624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3447288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23310" y="3374136"/>
            <a:ext cx="982980" cy="420624"/>
          </a:xfrm>
          <a:prstGeom prst="rect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3310" y="3447288"/>
            <a:ext cx="982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06290" y="3374136"/>
            <a:ext cx="442341" cy="420624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8631" y="3374136"/>
            <a:ext cx="245745" cy="420624"/>
          </a:xfrm>
          <a:prstGeom prst="rect">
            <a:avLst/>
          </a:prstGeom>
          <a:solidFill>
            <a:srgbClr val="B78036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3355848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19,200 Gas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447141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用户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48840" y="4489704"/>
            <a:ext cx="3440430" cy="420624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4562856"/>
            <a:ext cx="3440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21,000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589270" y="4489704"/>
            <a:ext cx="2293620" cy="420624"/>
          </a:xfrm>
          <a:prstGeom prst="rect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89270" y="4562856"/>
            <a:ext cx="2293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14,000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882890" y="4489704"/>
            <a:ext cx="1474470" cy="420624"/>
          </a:xfrm>
          <a:prstGeom prst="rect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82890" y="4562856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9,000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357360" y="4489704"/>
            <a:ext cx="655320" cy="420624"/>
          </a:xfrm>
          <a:prstGeom prst="rect">
            <a:avLst/>
          </a:prstGeom>
          <a:solidFill>
            <a:srgbClr val="B78036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57360" y="4562856"/>
            <a:ext cx="65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040112" y="4471416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48,000 Gas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13232" y="5559552"/>
            <a:ext cx="10442448" cy="457200"/>
          </a:xfrm>
          <a:prstGeom prst="roundRect">
            <a:avLst>
              <a:gd name="adj" fmla="val 12000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65099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年化运行收入：36,000 / 230,400 / 576,000 Gas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FORECAST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经纪返佣带来高弹性，也带来高依赖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基准公式：用户数 × 开户转化率 × 200 Gas / 活跃客户 / 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 用户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61518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86968" y="3218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/ 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16736" y="3657600"/>
            <a:ext cx="2011680" cy="292608"/>
          </a:xfrm>
          <a:prstGeom prst="roundRect">
            <a:avLst>
              <a:gd name="adj" fmla="val 43750"/>
            </a:avLst>
          </a:prstGeom>
          <a:solidFill>
            <a:srgbClr val="E3EDF2"/>
          </a:solidFill>
          <a:ln w="12700">
            <a:solidFill>
              <a:srgbClr val="E3ED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62456" y="3666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 转化 · 50 活跃户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61688" y="182880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 用户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261518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90288" y="3218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/ 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0056" y="3657600"/>
            <a:ext cx="2011680" cy="292608"/>
          </a:xfrm>
          <a:prstGeom prst="roundRect">
            <a:avLst>
              <a:gd name="adj" fmla="val 43750"/>
            </a:avLst>
          </a:prstGeom>
          <a:solidFill>
            <a:srgbClr val="E3EDF2"/>
          </a:solidFill>
          <a:ln w="12700">
            <a:solidFill>
              <a:srgbClr val="E3ED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3666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6% 转化 · 300 活跃户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065008" y="1828800"/>
            <a:ext cx="3337560" cy="2286000"/>
          </a:xfrm>
          <a:prstGeom prst="roundRect">
            <a:avLst>
              <a:gd name="adj" fmla="val 2400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93608" y="20574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7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 用户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93608" y="261518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140,000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8293608" y="32186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/ 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23376" y="3657600"/>
            <a:ext cx="2011680" cy="292608"/>
          </a:xfrm>
          <a:prstGeom prst="roundRect">
            <a:avLst>
              <a:gd name="adj" fmla="val 43750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69096" y="36667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7% 转化 · 700 活跃户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" y="4645152"/>
            <a:ext cx="5102352" cy="1115568"/>
          </a:xfrm>
          <a:prstGeom prst="roundRect">
            <a:avLst>
              <a:gd name="adj" fmla="val 4918"/>
            </a:avLst>
          </a:prstGeom>
          <a:solidFill>
            <a:srgbClr val="F7EBD7"/>
          </a:solidFill>
          <a:ln w="12700">
            <a:solidFill>
              <a:srgbClr val="F7EB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280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477316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1,000 用户场景中，单客户返佣从 200 降至 50 Gas，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综合月收入将从 13,000 降至 5,500 Gas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53328" y="4645152"/>
            <a:ext cx="5102352" cy="1115568"/>
          </a:xfrm>
          <a:prstGeom prst="roundRect">
            <a:avLst>
              <a:gd name="adj" fmla="val 4918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828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经营原则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477316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把经纪返佣视为增量，而不是唯一基础；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持续提高订阅、商城与 AI 的独立收入占比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FORECAST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综合月收入最高可达 188,000 Gas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综合收入 = 核心平台收入 + 经纪返佣；仍未扣除团队、服务器、支付、模型、营销、税务等成本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7739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用户规模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78608" y="17739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核心平台/月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63440" y="177393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经纪返佣/月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95160" y="1773936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综合/月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217152" y="177393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综合/年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FFDF9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87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78608" y="24871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4871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5160" y="24871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13,000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17152" y="24871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156,000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19272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8F3ED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747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78608" y="3474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19,200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474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34747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79,200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17152" y="3474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950,400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306824"/>
            <a:ext cx="10652760" cy="749808"/>
          </a:xfrm>
          <a:prstGeom prst="roundRect">
            <a:avLst>
              <a:gd name="adj" fmla="val 4878"/>
            </a:avLst>
          </a:prstGeom>
          <a:solidFill>
            <a:srgbClr val="F4E4E5"/>
          </a:solidFill>
          <a:ln w="16510">
            <a:solidFill>
              <a:srgbClr val="BF66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62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78608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48,000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4622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31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140,000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95160" y="446227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188,000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17152" y="44622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49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2,256,000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4406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74%–77%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914400" y="5934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经纪返佣占综合收入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90288" y="54406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F7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4590288" y="5934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商城抽成 / Agent 目标毛利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47888" y="54406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D7A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8247888" y="593445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必须设置保守/基准/乐观情景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先证明付费闭环，再扩大生态规模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1,000 名种子用户为第一阶段验证目标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3456432" cy="4096512"/>
          </a:xfrm>
          <a:prstGeom prst="roundRect">
            <a:avLst>
              <a:gd name="adj" fmla="val 1587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993392"/>
            <a:ext cx="1225296" cy="292608"/>
          </a:xfrm>
          <a:prstGeom prst="roundRect">
            <a:avLst>
              <a:gd name="adj" fmla="val 43750"/>
            </a:avLst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0253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0–3 个月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77824" y="25694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打磨基础闭环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3273552"/>
            <a:ext cx="274320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策略准入与风险披露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商城结算/退款/授权规则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观摩计费与认证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模型切换、套餐和经营看板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123944" y="3675888"/>
            <a:ext cx="256032" cy="384048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25696" y="1755648"/>
            <a:ext cx="3456432" cy="4096512"/>
          </a:xfrm>
          <a:prstGeom prst="roundRect">
            <a:avLst>
              <a:gd name="adj" fmla="val 1587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54296" y="1993392"/>
            <a:ext cx="1225296" cy="292608"/>
          </a:xfrm>
          <a:prstGeom prst="roundRect">
            <a:avLst>
              <a:gd name="adj" fmla="val 43750"/>
            </a:avLst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200253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3–6 个月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81728" y="25694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商业化验证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91456" y="3273552"/>
            <a:ext cx="274320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跟单月费与组合订阅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招募首批开发者/策略方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质量标签与已购评价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SIGMA PLUS 小范围测试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927848" y="3675888"/>
            <a:ext cx="256032" cy="384048"/>
          </a:xfrm>
          <a:prstGeom prst="rightArrow">
            <a:avLst/>
          </a:prstGeom>
          <a:solidFill>
            <a:srgbClr val="E7DED3"/>
          </a:solidFill>
          <a:ln w="12700">
            <a:solidFill>
              <a:srgbClr val="E7DE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55648"/>
            <a:ext cx="3456432" cy="4096512"/>
          </a:xfrm>
          <a:prstGeom prst="roundRect">
            <a:avLst>
              <a:gd name="adj" fmla="val 1587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  <a:effectLst>
            <a:outerShdw sx="100000" sy="100000" kx="0" ky="0" algn="bl" rotWithShape="0" blurRad="12700" dist="50800" dir="2700000">
              <a:srgbClr val="C8BFB6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58200" y="1993392"/>
            <a:ext cx="1225296" cy="292608"/>
          </a:xfrm>
          <a:prstGeom prst="roundRect">
            <a:avLst>
              <a:gd name="adj" fmla="val 43750"/>
            </a:avLst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00253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6–12 个月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85632" y="256946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增长与生态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95360" y="3273552"/>
            <a:ext cx="2743200" cy="1874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多语言与地区化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组合相关性与风险管理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开发者分层激励</a:t>
            </a:r>
            <a:endParaRPr lang="en-US" sz="1120" dirty="0"/>
          </a:p>
          <a:p>
            <a:pPr marL="152400" indent="-152400">
              <a:buSzPct val="100000"/>
              <a:buChar char="•"/>
            </a:pPr>
            <a:r>
              <a:rPr lang="en-US" sz="112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授权知识库与推荐系统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METRICS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用可验证指标管理增长，而不是只看注册量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同时监控需求、供给、交易与质量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55648"/>
            <a:ext cx="5230368" cy="1645920"/>
          </a:xfrm>
          <a:prstGeom prst="roundRect">
            <a:avLst>
              <a:gd name="adj" fmla="val 3333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842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947672" y="2011680"/>
            <a:ext cx="3611880" cy="10241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月活跃用户 / 30、90 日留存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 → 充值 → 首购转化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获客成本与跨板块使用率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27064" y="1755648"/>
            <a:ext cx="5230368" cy="1645920"/>
          </a:xfrm>
          <a:prstGeom prst="roundRect">
            <a:avLst>
              <a:gd name="adj" fmla="val 3333"/>
            </a:avLst>
          </a:prstGeom>
          <a:solidFill>
            <a:srgbClr val="E3EDF2"/>
          </a:solidFill>
          <a:ln w="12700">
            <a:solidFill>
              <a:srgbClr val="E3ED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1384" y="19842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52944" y="2011680"/>
            <a:ext cx="3611880" cy="10241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有效策略 / 在售商品数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活跃开发者 / 观摩账户数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审核通过率与持续在线率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3767328"/>
            <a:ext cx="5230368" cy="1645920"/>
          </a:xfrm>
          <a:prstGeom prst="roundRect">
            <a:avLst>
              <a:gd name="adj" fmla="val 3333"/>
            </a:avLst>
          </a:prstGeom>
          <a:solidFill>
            <a:srgbClr val="E2EFEA"/>
          </a:solidFill>
          <a:ln w="12700">
            <a:solidFill>
              <a:srgbClr val="E2E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9959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947672" y="4023360"/>
            <a:ext cx="3611880" cy="10241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跟单续费率 / 商城 GMV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观摩出租率 / Agent 付费率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客单价、复购率、退款率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3767328"/>
            <a:ext cx="5230368" cy="1645920"/>
          </a:xfrm>
          <a:prstGeom prst="roundRect">
            <a:avLst>
              <a:gd name="adj" fmla="val 3333"/>
            </a:avLst>
          </a:prstGeom>
          <a:solidFill>
            <a:srgbClr val="F7EBD7"/>
          </a:solidFill>
          <a:ln w="12700">
            <a:solidFill>
              <a:srgbClr val="F7EB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1384" y="399592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552944" y="4023360"/>
            <a:ext cx="3611880" cy="10241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最大回撤 / 商品投诉率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首次编译通过率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自动修复成功率 / 争议时长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03120" y="5852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North Star：付费活跃用户数 × 每用户可持续毛利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增长之前，先建立可信与合规底座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交易、数字商品、AI、数据与 Gas 均需要明确边界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138928" cy="1042416"/>
          </a:xfrm>
          <a:prstGeom prst="roundRect">
            <a:avLst>
              <a:gd name="adj" fmla="val 5263"/>
            </a:avLst>
          </a:prstGeom>
          <a:solidFill>
            <a:srgbClr val="FFFDF9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01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F66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投资与跟单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121408" y="1865376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持续披露回撤、杠杆、账户真实性；历史表现不代表未来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199632" y="1737360"/>
            <a:ext cx="5138928" cy="1042416"/>
          </a:xfrm>
          <a:prstGeom prst="roundRect">
            <a:avLst>
              <a:gd name="adj" fmla="val 5263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9019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数字商品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80960" y="1865376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明确授权、交付、升级、售后、退款与侵权处理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40080" y="3044952"/>
            <a:ext cx="5138928" cy="1042416"/>
          </a:xfrm>
          <a:prstGeom prst="roundRect">
            <a:avLst>
              <a:gd name="adj" fmla="val 5263"/>
            </a:avLst>
          </a:prstGeom>
          <a:solidFill>
            <a:srgbClr val="FFFDF9"/>
          </a:solidFill>
          <a:ln w="12700">
            <a:solidFill>
              <a:srgbClr val="B780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2095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B780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代码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21408" y="3172968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编译通过不等于安全或盈利；强制模拟回测与人工检查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199632" y="3044952"/>
            <a:ext cx="5138928" cy="1042416"/>
          </a:xfrm>
          <a:prstGeom prst="roundRect">
            <a:avLst>
              <a:gd name="adj" fmla="val 5263"/>
            </a:avLst>
          </a:prstGeom>
          <a:solidFill>
            <a:srgbClr val="FFFDF9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2095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D7A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数据与隐私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0" y="3172968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用户代码和交易数据不得默认训练；使用需明确授权且可退出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40080" y="4352544"/>
            <a:ext cx="5138928" cy="1042416"/>
          </a:xfrm>
          <a:prstGeom prst="roundRect">
            <a:avLst>
              <a:gd name="adj" fmla="val 5263"/>
            </a:avLst>
          </a:prstGeom>
          <a:solidFill>
            <a:srgbClr val="FFFDF9"/>
          </a:solidFill>
          <a:ln w="12700">
            <a:solidFill>
              <a:srgbClr val="9349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5171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经纪业务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121408" y="4480560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返佣协议、营销表述、归因和地区准入需专业合规审核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199632" y="4352544"/>
            <a:ext cx="5138928" cy="1042416"/>
          </a:xfrm>
          <a:prstGeom prst="roundRect">
            <a:avLst>
              <a:gd name="adj" fmla="val 5263"/>
            </a:avLst>
          </a:prstGeom>
          <a:solidFill>
            <a:srgbClr val="FFFDF9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51713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4F71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财务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680960" y="4480560"/>
            <a:ext cx="3383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保持消费积分属性，建立充值、退款、税务、对账和审计制度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58368" y="5715000"/>
            <a:ext cx="10625328" cy="365760"/>
          </a:xfrm>
          <a:prstGeom prst="roundRect">
            <a:avLst>
              <a:gd name="adj" fmla="val 15000"/>
            </a:avLst>
          </a:prstGeom>
          <a:solidFill>
            <a:srgbClr val="F4E4E5"/>
          </a:solidFill>
          <a:ln w="12700">
            <a:solidFill>
              <a:srgbClr val="F4E4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769864"/>
            <a:ext cx="10104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349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底线：平台提供工具、信息与基础设施，不承诺交易收益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BF66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· NEXT STEPS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近期八项决策，决定商业化速度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216152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C74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从产品能力走向可复制的经营体系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746504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52728" y="170992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SIGMA BOT 中文名称与品牌视觉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6190488" y="1746504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0488" y="17556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57416" y="1709928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 Anthropic 正式模型名称，尤其是 Fable</a:t>
            </a:r>
            <a:endParaRPr lang="en-US" sz="117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06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2728" y="266090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 Gas 会计口径、充值、退款与开发者结算</a:t>
            </a:r>
            <a:endParaRPr lang="en-US" sz="1170" dirty="0"/>
          </a:p>
        </p:txBody>
      </p:sp>
      <p:sp>
        <p:nvSpPr>
          <p:cNvPr id="14" name="Shape 12"/>
          <p:cNvSpPr/>
          <p:nvPr/>
        </p:nvSpPr>
        <p:spPr>
          <a:xfrm>
            <a:off x="6190488" y="2697480"/>
            <a:ext cx="384048" cy="384048"/>
          </a:xfrm>
          <a:prstGeom prst="ellipse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0488" y="270662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57416" y="2660904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建立保守 / 基准 / 乐观三套滚动预算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685800" y="3648456"/>
            <a:ext cx="384048" cy="384048"/>
          </a:xfrm>
          <a:prstGeom prst="ellipse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576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52728" y="361188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验证经纪协议与“20 手 = 200 Gas”成立条件</a:t>
            </a:r>
            <a:endParaRPr lang="en-US" sz="1170" dirty="0"/>
          </a:p>
        </p:txBody>
      </p:sp>
      <p:sp>
        <p:nvSpPr>
          <p:cNvPr id="20" name="Shape 18"/>
          <p:cNvSpPr/>
          <p:nvPr/>
        </p:nvSpPr>
        <p:spPr>
          <a:xfrm>
            <a:off x="6190488" y="3648456"/>
            <a:ext cx="384048" cy="384048"/>
          </a:xfrm>
          <a:prstGeom prst="ellipse">
            <a:avLst/>
          </a:prstGeom>
          <a:solidFill>
            <a:srgbClr val="4F718B"/>
          </a:solidFill>
          <a:ln w="12700">
            <a:solidFill>
              <a:srgbClr val="4F71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365760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57416" y="3611880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建立策略准入评分卡与相关性筛选标准</a:t>
            </a:r>
            <a:endParaRPr lang="en-US" sz="1170" dirty="0"/>
          </a:p>
        </p:txBody>
      </p:sp>
      <p:sp>
        <p:nvSpPr>
          <p:cNvPr id="23" name="Shape 21"/>
          <p:cNvSpPr/>
          <p:nvPr/>
        </p:nvSpPr>
        <p:spPr>
          <a:xfrm>
            <a:off x="685800" y="4599432"/>
            <a:ext cx="384048" cy="384048"/>
          </a:xfrm>
          <a:prstGeom prst="ellipse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608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52728" y="456285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完成观摩铺位计费与 Agent 套餐设计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6190488" y="4599432"/>
            <a:ext cx="384048" cy="384048"/>
          </a:xfrm>
          <a:prstGeom prst="ellipse">
            <a:avLst/>
          </a:prstGeom>
          <a:solidFill>
            <a:srgbClr val="3D7A68"/>
          </a:solidFill>
          <a:ln w="12700">
            <a:solidFill>
              <a:srgbClr val="3D7A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46085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4562856"/>
            <a:ext cx="4617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dirty="0">
                <a:solidFill>
                  <a:srgbClr val="3731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 1,000 名种子用户持续校准转化与留存</a:t>
            </a:r>
            <a:endParaRPr lang="en-US" sz="1170" dirty="0"/>
          </a:p>
        </p:txBody>
      </p:sp>
      <p:sp>
        <p:nvSpPr>
          <p:cNvPr id="29" name="Shape 27"/>
          <p:cNvSpPr/>
          <p:nvPr/>
        </p:nvSpPr>
        <p:spPr>
          <a:xfrm>
            <a:off x="1417320" y="5779008"/>
            <a:ext cx="9372600" cy="411480"/>
          </a:xfrm>
          <a:prstGeom prst="roundRect">
            <a:avLst>
              <a:gd name="adj" fmla="val 13333"/>
            </a:avLst>
          </a:prstGeom>
          <a:solidFill>
            <a:srgbClr val="37312D"/>
          </a:solidFill>
          <a:ln w="12700">
            <a:solidFill>
              <a:srgbClr val="3731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5843016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第一阶段目标：证明用户愿意为跟单、工具与 Agent 持续付费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5029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A817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731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F6672"/>
          </a:solidFill>
          <a:ln w="12700">
            <a:solidFill>
              <a:srgbClr val="BF66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92040" y="713232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0" dirty="0">
                <a:solidFill>
                  <a:srgbClr val="BF66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Σ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1920240" y="22677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SIGMA BOT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331720" y="3319272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A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让策略被发现，让表现被验证，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EAD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让工具被交易，让每个人都能创造。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315968" y="4800600"/>
            <a:ext cx="3566160" cy="0"/>
          </a:xfrm>
          <a:prstGeom prst="line">
            <a:avLst/>
          </a:prstGeom>
          <a:noFill/>
          <a:ln w="19050">
            <a:solidFill>
              <a:srgbClr val="BF66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51389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70" kern="0" dirty="0">
                <a:solidFill>
                  <a:srgbClr val="B7AD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SYSTEMATIC INTELLIGENCE FOR EVERY TRADER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619963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8E87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本材料仅用于项目规划，不构成投资建议或收益承诺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SIGMA BOT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SIGMA BOT 项目计划书</dc:title>
  <dc:subject>SIGMA BOT 项目计划书</dc:subject>
  <dc:creator>SIGMA BOT</dc:creator>
  <cp:lastModifiedBy>SIGMA BOT</cp:lastModifiedBy>
  <cp:revision>1</cp:revision>
  <dcterms:created xsi:type="dcterms:W3CDTF">2026-09-21T14:11:47Z</dcterms:created>
  <dcterms:modified xsi:type="dcterms:W3CDTF">2026-09-21T14:11:47Z</dcterms:modified>
</cp:coreProperties>
</file>